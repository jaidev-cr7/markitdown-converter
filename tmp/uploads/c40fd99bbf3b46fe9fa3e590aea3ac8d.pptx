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6858000" cx="9144000"/>
  <p:notesSz cx="6858000" cy="9144000"/>
  <p:embeddedFontLst>
    <p:embeddedFont>
      <p:font typeface="Tahoma"/>
      <p:regular r:id="rId73"/>
      <p:bold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5" roundtripDataSignature="AMtx7miywzt0nDB6tJOoIDKjRAPtrKz+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Tahoma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Tahoma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70"/>
          <p:cNvGrpSpPr/>
          <p:nvPr/>
        </p:nvGrpSpPr>
        <p:grpSpPr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25" name="Google Shape;25;p70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6" name="Google Shape;26;p70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7;p70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lt1"/>
                  </a:gs>
                  <a:gs pos="100000">
                    <a:schemeClr val="folHlink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" name="Google Shape;28;p70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9" name="Google Shape;29;p70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;p7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lt1"/>
                  </a:gs>
                  <a:gs pos="100000">
                    <a:schemeClr val="accent2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1" name="Google Shape;31;p70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chemeClr val="lt1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" name="Google Shape;32;p70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33;p70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" name="Google Shape;34;p70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9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69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69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69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69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69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69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6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" name="Google Shape;19;p6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69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6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6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Software Requirements Analysis and Specification</a:t>
            </a:r>
            <a:endParaRPr/>
          </a:p>
        </p:txBody>
      </p:sp>
      <p:sp>
        <p:nvSpPr>
          <p:cNvPr id="50" name="Google Shape;5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6" name="Google Shape;56;p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" name="Google Shape;57;p2"/>
          <p:cNvSpPr txBox="1"/>
          <p:nvPr>
            <p:ph type="title"/>
          </p:nvPr>
        </p:nvSpPr>
        <p:spPr>
          <a:xfrm>
            <a:off x="609600" y="7620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Background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609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Problem of scale is a key issue for 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small scale, understand and specifying requirements is easy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large problem - very hard; probably the hardest, most problematic and error prone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user needs in minds of people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precise statement of what the future system will do 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64" name="Google Shape;64;p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5" name="Google Shape;65;p3"/>
          <p:cNvSpPr txBox="1"/>
          <p:nvPr>
            <p:ph type="title"/>
          </p:nvPr>
        </p:nvSpPr>
        <p:spPr>
          <a:xfrm>
            <a:off x="685800" y="685800"/>
            <a:ext cx="7848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Background..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685800" y="1981200"/>
            <a:ext cx="7848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Identifying and specifying req necessarily involves people interaction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Cannot be automated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 (IEEE)= A condition or capability that must be possessed by a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Req. phase ends with a software requirements specification (SRS) document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SRS specifies what the proposed system should 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3" name="Google Shape;73;p4"/>
          <p:cNvSpPr txBox="1"/>
          <p:nvPr>
            <p:ph type="title"/>
          </p:nvPr>
        </p:nvSpPr>
        <p:spPr>
          <a:xfrm>
            <a:off x="685800" y="152400"/>
            <a:ext cx="8305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Background..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609600" y="19050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understanding is hard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Visualizing a future system is difficult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Capability of the future system not clear, hence needs not clear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change with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…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Essential to do a proper analysis and specification of requirements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" name="Google Shape;81;p5"/>
          <p:cNvSpPr txBox="1"/>
          <p:nvPr>
            <p:ph type="title"/>
          </p:nvPr>
        </p:nvSpPr>
        <p:spPr>
          <a:xfrm>
            <a:off x="685800" y="5334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Need for SRS</a:t>
            </a:r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609600" y="19812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SRS establishes basis of agreement between the user and the supplier.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Users needs have to be satisfied, but user may not understand software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Developers will develop the system, but may not know about problem domain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SRS is the medium to bridge the commn. gap and specify user needs in a manner both can understand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" name="Google Shape;89;p6"/>
          <p:cNvSpPr txBox="1"/>
          <p:nvPr>
            <p:ph type="title"/>
          </p:nvPr>
        </p:nvSpPr>
        <p:spPr>
          <a:xfrm>
            <a:off x="685800" y="762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Need for SRS…</a:t>
            </a:r>
            <a:endParaRPr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685800" y="19050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Helps user understand his needs.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users do not always know their needs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analyze and understand the potential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goal is not just to automate a manual system, but also to add value through IT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req process helps clarify needs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SRS provides a reference for validation of the final product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Clear understanding about what is expected.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 - “ SW satisfies the SRS “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96" name="Google Shape;96;p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685800" y="457200"/>
            <a:ext cx="7848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Need for SRS…</a:t>
            </a:r>
            <a:endParaRPr/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609600" y="1905000"/>
            <a:ext cx="784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 quality SRS essential for high Quality SW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 errors get manifested in final sw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satisfy the quality objective, must begin with high quality SRS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defects are not few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25% of all defects in one case; 54% of all defects found after UT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80 defects in A7 that resulted in change requests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500 / 250 defects in previously approved SRS.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04" name="Google Shape;104;p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5" name="Google Shape;105;p8"/>
          <p:cNvSpPr txBox="1"/>
          <p:nvPr>
            <p:ph type="title"/>
          </p:nvPr>
        </p:nvSpPr>
        <p:spPr>
          <a:xfrm>
            <a:off x="609600" y="457200"/>
            <a:ext cx="7848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Need for SRS…</a:t>
            </a:r>
            <a:endParaRPr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533400" y="19050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Good SRS reduces the development cost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SRS errors are expensive to fix later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Req. changes can cost a lot (up to 40%)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Good SRS can minimize changes and errors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Substantial savings; extra effort spent during req. saves multiple times that effort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Example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Cost of fixing errors in req. , design , coding , acceptance testing and operation are 2 , 5 , 15 , 50 , 150 person-months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3" name="Google Shape;113;p9"/>
          <p:cNvSpPr txBox="1"/>
          <p:nvPr>
            <p:ph type="title"/>
          </p:nvPr>
        </p:nvSpPr>
        <p:spPr>
          <a:xfrm>
            <a:off x="685800" y="533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Need for SRS…</a:t>
            </a:r>
            <a:endParaRPr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533400" y="1752600"/>
            <a:ext cx="7848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…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After req. phase 65% req errs detected in design , 2% in coding, 30% in Acceptance testing, 3% during operation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50 requirement errors are not removed in the req. phase, the total cost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32.5 *5 + 1*15 + 15*50 + 1.5*150 = 1152 hrs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100 person-hours invested additionally in req to catch these 50 defects , then development cost could be reduced by 1152 person-hours.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 reduction in cost is 1052 person-hours 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1" name="Google Shape;121;p10"/>
          <p:cNvSpPr txBox="1"/>
          <p:nvPr>
            <p:ph type="title"/>
          </p:nvPr>
        </p:nvSpPr>
        <p:spPr>
          <a:xfrm>
            <a:off x="685800" y="7620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Process</a:t>
            </a:r>
            <a:endParaRPr/>
          </a:p>
        </p:txBody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609600" y="19050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Sequence of steps that need to be performed to convert user needs into SRS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 has to elicit needs and requirements and clearly specifies 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Basic activities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problem or requirement analysis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 specification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 involves elicitation and is the hardest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9" name="Google Shape;129;p11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Process..</a:t>
            </a:r>
            <a:endParaRPr/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685800" y="9525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2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1905000" y="1524000"/>
            <a:ext cx="1524000" cy="91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</a:t>
            </a:r>
            <a:endParaRPr/>
          </a:p>
        </p:txBody>
      </p:sp>
      <p:sp>
        <p:nvSpPr>
          <p:cNvPr id="132" name="Google Shape;132;p11"/>
          <p:cNvSpPr txBox="1"/>
          <p:nvPr/>
        </p:nvSpPr>
        <p:spPr>
          <a:xfrm>
            <a:off x="3962400" y="2438400"/>
            <a:ext cx="17526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/>
          </a:p>
        </p:txBody>
      </p:sp>
      <p:sp>
        <p:nvSpPr>
          <p:cNvPr id="133" name="Google Shape;133;p11"/>
          <p:cNvSpPr txBox="1"/>
          <p:nvPr/>
        </p:nvSpPr>
        <p:spPr>
          <a:xfrm>
            <a:off x="3962400" y="3276600"/>
            <a:ext cx="17526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</a:t>
            </a:r>
            <a:endParaRPr/>
          </a:p>
        </p:txBody>
      </p:sp>
      <p:sp>
        <p:nvSpPr>
          <p:cNvPr id="134" name="Google Shape;134;p11"/>
          <p:cNvSpPr txBox="1"/>
          <p:nvPr/>
        </p:nvSpPr>
        <p:spPr>
          <a:xfrm>
            <a:off x="3962400" y="4267200"/>
            <a:ext cx="17526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endParaRPr/>
          </a:p>
        </p:txBody>
      </p:sp>
      <p:cxnSp>
        <p:nvCxnSpPr>
          <p:cNvPr id="135" name="Google Shape;135;p11"/>
          <p:cNvCxnSpPr/>
          <p:nvPr/>
        </p:nvCxnSpPr>
        <p:spPr>
          <a:xfrm>
            <a:off x="4800600" y="48006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6" name="Google Shape;136;p11"/>
          <p:cNvCxnSpPr/>
          <p:nvPr/>
        </p:nvCxnSpPr>
        <p:spPr>
          <a:xfrm>
            <a:off x="4800600" y="28956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7" name="Google Shape;137;p11"/>
          <p:cNvCxnSpPr/>
          <p:nvPr/>
        </p:nvCxnSpPr>
        <p:spPr>
          <a:xfrm>
            <a:off x="4800600" y="38100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8" name="Google Shape;138;p11"/>
          <p:cNvCxnSpPr/>
          <p:nvPr/>
        </p:nvCxnSpPr>
        <p:spPr>
          <a:xfrm>
            <a:off x="3429000" y="1981200"/>
            <a:ext cx="762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9" name="Google Shape;139;p11"/>
          <p:cNvCxnSpPr/>
          <p:nvPr/>
        </p:nvCxnSpPr>
        <p:spPr>
          <a:xfrm rot="10800000">
            <a:off x="3581400" y="35052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0" name="Google Shape;140;p11"/>
          <p:cNvCxnSpPr/>
          <p:nvPr/>
        </p:nvCxnSpPr>
        <p:spPr>
          <a:xfrm rot="10800000">
            <a:off x="3581400" y="2667000"/>
            <a:ext cx="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1" name="Google Shape;141;p11"/>
          <p:cNvCxnSpPr/>
          <p:nvPr/>
        </p:nvCxnSpPr>
        <p:spPr>
          <a:xfrm>
            <a:off x="3581400" y="26670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2" name="Google Shape;142;p11"/>
          <p:cNvCxnSpPr/>
          <p:nvPr/>
        </p:nvCxnSpPr>
        <p:spPr>
          <a:xfrm>
            <a:off x="5715000" y="4495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3" name="Google Shape;143;p11"/>
          <p:cNvCxnSpPr/>
          <p:nvPr/>
        </p:nvCxnSpPr>
        <p:spPr>
          <a:xfrm rot="10800000">
            <a:off x="6172200" y="2667000"/>
            <a:ext cx="0" cy="182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" name="Google Shape;144;p11"/>
          <p:cNvCxnSpPr/>
          <p:nvPr/>
        </p:nvCxnSpPr>
        <p:spPr>
          <a:xfrm rot="10800000">
            <a:off x="5715000" y="3505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5" name="Google Shape;145;p11"/>
          <p:cNvCxnSpPr/>
          <p:nvPr/>
        </p:nvCxnSpPr>
        <p:spPr>
          <a:xfrm rot="10800000">
            <a:off x="5715000" y="2667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51" name="Google Shape;151;p1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2" name="Google Shape;152;p1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 process..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 is not linear, it is iterative and parallel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Overlap between phases - some parts may be analyzed and specified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Specification itself may help analysis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 can show gaps that can lead to further analysis and spec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59" name="Google Shape;159;p1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0" name="Google Shape;160;p13"/>
          <p:cNvSpPr txBox="1"/>
          <p:nvPr>
            <p:ph type="title"/>
          </p:nvPr>
        </p:nvSpPr>
        <p:spPr>
          <a:xfrm>
            <a:off x="685800" y="762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Process…</a:t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685800" y="1905000"/>
            <a:ext cx="7696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Focus of analysis is on understanding the desired systems and it’s requirements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Divide and conquer is the basic strategy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decompose into small parts, understand each part and relation between parts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Large volumes of information is generated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organizing them is a key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Techniques like data flow diagrams, object diagrams etc. used in the analysis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67" name="Google Shape;167;p1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8" name="Google Shape;168;p14"/>
          <p:cNvSpPr txBox="1"/>
          <p:nvPr>
            <p:ph type="title"/>
          </p:nvPr>
        </p:nvSpPr>
        <p:spPr>
          <a:xfrm>
            <a:off x="685800" y="7620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Process..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609600" y="16764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Transition from analysis to specs is hard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specs, external behavior specified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during analysis, structure and domain are understood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 structures helps in specification, but the transition is not final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methods of analysis are similar to that of design, but objective and scope different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 deals with the problem domain, whereas design deals with solution domain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75" name="Google Shape;175;p1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6" name="Google Shape;176;p15"/>
          <p:cNvSpPr txBox="1"/>
          <p:nvPr>
            <p:ph type="title"/>
          </p:nvPr>
        </p:nvSpPr>
        <p:spPr>
          <a:xfrm>
            <a:off x="685800" y="7620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Problem Analysis</a:t>
            </a:r>
            <a:endParaRPr/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685800" y="19050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Aim: to gain an understanding of the needs, requirements, and constraints on the software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 involves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interviewing client and users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reading manuals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studying current systems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helping client/users understand new possibilities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Like becoming a consultant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understand the working of the organization , client and users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4" name="Google Shape;184;p16"/>
          <p:cNvSpPr txBox="1"/>
          <p:nvPr>
            <p:ph type="title"/>
          </p:nvPr>
        </p:nvSpPr>
        <p:spPr>
          <a:xfrm>
            <a:off x="609600" y="6858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Problem Analysis…</a:t>
            </a:r>
            <a:endParaRPr/>
          </a:p>
        </p:txBody>
      </p:sp>
      <p:sp>
        <p:nvSpPr>
          <p:cNvPr id="185" name="Google Shape;185;p16"/>
          <p:cNvSpPr txBox="1"/>
          <p:nvPr>
            <p:ph idx="1" type="body"/>
          </p:nvPr>
        </p:nvSpPr>
        <p:spPr>
          <a:xfrm>
            <a:off x="609600" y="18288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issues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Obtaining the necessary information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Brainstorming: interacting with clients to establish desired properties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Information organization, as large amount of info. gets collected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Ensuring completeness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Ensuring consistency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Avoiding internal design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91" name="Google Shape;191;p1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2" name="Google Shape;192;p17"/>
          <p:cNvSpPr txBox="1"/>
          <p:nvPr>
            <p:ph type="title"/>
          </p:nvPr>
        </p:nvSpPr>
        <p:spPr>
          <a:xfrm>
            <a:off x="6096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Problem Analysis…</a:t>
            </a:r>
            <a:endParaRPr/>
          </a:p>
        </p:txBody>
      </p:sp>
      <p:sp>
        <p:nvSpPr>
          <p:cNvPr id="193" name="Google Shape;193;p17"/>
          <p:cNvSpPr txBox="1"/>
          <p:nvPr>
            <p:ph idx="1" type="body"/>
          </p:nvPr>
        </p:nvSpPr>
        <p:spPr>
          <a:xfrm>
            <a:off x="685800" y="17526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Interpersonal issues are important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Communication skills are very important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Basic principle: problem partition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Partition w.r.t what?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      - OO analysis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Function  -  structural analysis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Events in the system – event partitioning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Projection - get different views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Will discuss few different analysis techniques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199" name="Google Shape;199;p1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0" name="Google Shape;200;p18"/>
          <p:cNvSpPr txBox="1"/>
          <p:nvPr>
            <p:ph type="title"/>
          </p:nvPr>
        </p:nvSpPr>
        <p:spPr>
          <a:xfrm>
            <a:off x="609600" y="685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Characteristics of an SRS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685800" y="19050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should be the characteristics of a good SRS? Some key ones are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Unambiguous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Verifiable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Ranked for importance and/or stability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07" name="Google Shape;207;p1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8" name="Google Shape;208;p19"/>
          <p:cNvSpPr txBox="1"/>
          <p:nvPr>
            <p:ph type="title"/>
          </p:nvPr>
        </p:nvSpPr>
        <p:spPr>
          <a:xfrm>
            <a:off x="533400" y="6096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Characteristics…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609600" y="1828800"/>
            <a:ext cx="8001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Correctness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requirement accurately represents some desired feature in the final system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Completeness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desired features/characteristics specified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Hardest to satisfy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Completeness and correctness strongly related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Unambiguous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req has exactly one meaning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Without this errors will creep in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Important as natural languages often used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15" name="Google Shape;215;p2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6" name="Google Shape;216;p2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Characteristics…</a:t>
            </a:r>
            <a:endParaRPr/>
          </a:p>
        </p:txBody>
      </p:sp>
      <p:sp>
        <p:nvSpPr>
          <p:cNvPr id="217" name="Google Shape;217;p2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Verifiability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must exist a cost effective way of checking if sw satisfies requirements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requirements don’t contradict each other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Ranked for importance/stability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Needed for prioritizing in construction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reduce risks due to changing requirements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23" name="Google Shape;223;p2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4" name="Google Shape;224;p21"/>
          <p:cNvSpPr txBox="1"/>
          <p:nvPr>
            <p:ph type="title"/>
          </p:nvPr>
        </p:nvSpPr>
        <p:spPr>
          <a:xfrm>
            <a:off x="609600" y="533400"/>
            <a:ext cx="7848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Components of an SRS</a:t>
            </a:r>
            <a:endParaRPr/>
          </a:p>
        </p:txBody>
      </p:sp>
      <p:sp>
        <p:nvSpPr>
          <p:cNvPr id="225" name="Google Shape;225;p21"/>
          <p:cNvSpPr txBox="1"/>
          <p:nvPr>
            <p:ph idx="1" type="body"/>
          </p:nvPr>
        </p:nvSpPr>
        <p:spPr>
          <a:xfrm>
            <a:off x="609600" y="19050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should an SRS contain 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Clarifying this will help ensure completeness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SRS must specify requirements 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Functionality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Design constraints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External interfaces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31" name="Google Shape;231;p2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762000" y="6096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Functional Requirements</a:t>
            </a:r>
            <a:endParaRPr/>
          </a:p>
        </p:txBody>
      </p:sp>
      <p:sp>
        <p:nvSpPr>
          <p:cNvPr id="233" name="Google Shape;233;p22"/>
          <p:cNvSpPr txBox="1"/>
          <p:nvPr>
            <p:ph idx="1" type="body"/>
          </p:nvPr>
        </p:nvSpPr>
        <p:spPr>
          <a:xfrm>
            <a:off x="609600" y="1981200"/>
            <a:ext cx="784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Heart of the SRS document; this forms the bulk of the specs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Specifies all the functionality that the system should support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Outputs for the given inputs and the relationship between them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operations the system is to do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specify behavior for invalid inputs too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39" name="Google Shape;239;p2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0" name="Google Shape;240;p2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Performance Requirements</a:t>
            </a:r>
            <a:endParaRPr/>
          </a:p>
        </p:txBody>
      </p:sp>
      <p:sp>
        <p:nvSpPr>
          <p:cNvPr id="241" name="Google Shape;241;p2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the performance constraints on the software system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Generally on response time , throughput etc =&gt; dynamic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Capacity requirements =&gt; static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be in measurable terms (verifiability)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Eg resp time should be xx 90% of the time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8" name="Google Shape;248;p2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Design Constraints</a:t>
            </a:r>
            <a:endParaRPr/>
          </a:p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Factors in the client environment that restrict the choices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such restrictions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 compliance and compatibility with other systems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Hardware Limitations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Reliability, fault tolerance, backup req.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Security</a:t>
            </a:r>
            <a:endParaRPr b="0" i="0" sz="2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6" name="Google Shape;256;p2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External Interface</a:t>
            </a:r>
            <a:endParaRPr/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interactions of the software with people, hardware, and sw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 interface most important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General requirements of “friendliness” should be avoided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These should also be verifiable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63" name="Google Shape;263;p2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Specification Language</a:t>
            </a:r>
            <a:endParaRPr/>
          </a:p>
        </p:txBody>
      </p:sp>
      <p:sp>
        <p:nvSpPr>
          <p:cNvPr id="265" name="Google Shape;265;p2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Language should support desired char of the SRS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Formal languages are precise and unambiguous but hard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Natural languages mostly used, with some structure for the document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Formal languages used for special features or in highly critical systems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71" name="Google Shape;271;p2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2" name="Google Shape;272;p27"/>
          <p:cNvSpPr txBox="1"/>
          <p:nvPr>
            <p:ph type="title"/>
          </p:nvPr>
        </p:nvSpPr>
        <p:spPr>
          <a:xfrm>
            <a:off x="685800" y="6096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Structure of an SRS</a:t>
            </a:r>
            <a:endParaRPr/>
          </a:p>
        </p:txBody>
      </p:sp>
      <p:sp>
        <p:nvSpPr>
          <p:cNvPr id="273" name="Google Shape;273;p27"/>
          <p:cNvSpPr txBox="1"/>
          <p:nvPr>
            <p:ph idx="1" type="body"/>
          </p:nvPr>
        </p:nvSpPr>
        <p:spPr>
          <a:xfrm>
            <a:off x="685800" y="1676400"/>
            <a:ext cx="7848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Purpose , the basic objective of the system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Scope of what the system is to do , not to do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Overview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Overall description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Product perspective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Product functions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 characteristics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Assumptions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Constraints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79" name="Google Shape;279;p2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0" name="Google Shape;280;p28"/>
          <p:cNvSpPr txBox="1"/>
          <p:nvPr>
            <p:ph type="title"/>
          </p:nvPr>
        </p:nvSpPr>
        <p:spPr>
          <a:xfrm>
            <a:off x="609600" y="6096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Structure of an SRS…</a:t>
            </a:r>
            <a:endParaRPr/>
          </a:p>
        </p:txBody>
      </p:sp>
      <p:sp>
        <p:nvSpPr>
          <p:cNvPr id="281" name="Google Shape;281;p28"/>
          <p:cNvSpPr txBox="1"/>
          <p:nvPr>
            <p:ph idx="1" type="body"/>
          </p:nvPr>
        </p:nvSpPr>
        <p:spPr>
          <a:xfrm>
            <a:off x="685800" y="1905000"/>
            <a:ext cx="7924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Specific requirements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External interfaces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Functional requirements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Performance requirements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Design constraints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Acceptable criteria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desirable to specify this up front.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standardization of the SRS was done by IEEE. 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87" name="Google Shape;287;p2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8" name="Google Shape;288;p2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Use Cases Approach for Functional Requirements</a:t>
            </a:r>
            <a:endParaRPr/>
          </a:p>
        </p:txBody>
      </p:sp>
      <p:sp>
        <p:nvSpPr>
          <p:cNvPr id="289" name="Google Shape;289;p2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Traditional approach for fn specs – specify each function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cases is a newer technique for specifying behavior (functionality)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I.e. focuses on functional specs only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Though primarily for specification, can be used in analysis and elicitation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be used to specify business or org behavior also, though we will focus on sw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Well suited for interactive systems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95" name="Google Shape;295;p3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6" name="Google Shape;296;p3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Use Cases Basics</a:t>
            </a:r>
            <a:endParaRPr/>
          </a:p>
        </p:txBody>
      </p:sp>
      <p:sp>
        <p:nvSpPr>
          <p:cNvPr id="297" name="Google Shape;297;p3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use case captures a contract between a user and system about behavior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Basically a textual form; diagrams are mostly to support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Also useful in requirements elicitation as users like and understand the story telling form and react to it easily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03" name="Google Shape;303;p3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4" name="Google Shape;304;p3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Basics..</a:t>
            </a:r>
            <a:endParaRPr/>
          </a:p>
        </p:txBody>
      </p:sp>
      <p:sp>
        <p:nvSpPr>
          <p:cNvPr id="305" name="Google Shape;305;p3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Actor: a person or a system that interacts with the proposed system to achieve a goal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Eg. User of an ATM (goal: get money); data entry operator; (goal: Perform transaction)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Actor is a logical entity, so receiver and sender actors are different (even if the same person)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Actors can be people or systems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 The main actor who initiates a UC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 is to satisfy his goals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actual execution may be done by a system or another person on behalf of the Primary actor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2" name="Google Shape;312;p3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Basics..</a:t>
            </a:r>
            <a:endParaRPr/>
          </a:p>
        </p:txBody>
      </p:sp>
      <p:sp>
        <p:nvSpPr>
          <p:cNvPr id="313" name="Google Shape;313;p3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Scenario: a set of actions performed to achieve a goal under some conditions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Actions specified as a sequence of steps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step is a logically complete action performed either by the actor or the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success scenario – when things go normally and the goal is achieved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Alternate scenarios: When things go wrong and goals cannot be achieved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19" name="Google Shape;319;p3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0" name="Google Shape;320;p3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Basics..</a:t>
            </a:r>
            <a:endParaRPr/>
          </a:p>
        </p:txBody>
      </p:sp>
      <p:sp>
        <p:nvSpPr>
          <p:cNvPr id="321" name="Google Shape;321;p3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UC is a collection of many such scenarios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scenario may employ other use cases in a step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I.e. a sub-goal of a UC goal may be performed by another UC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I.e. UCs can be organized hierarchically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27" name="Google Shape;327;p3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8" name="Google Shape;328;p3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Basics…</a:t>
            </a:r>
            <a:endParaRPr/>
          </a:p>
        </p:txBody>
      </p:sp>
      <p:sp>
        <p:nvSpPr>
          <p:cNvPr id="329" name="Google Shape;329;p3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UCs specify functionality by describing interactions between actors and system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Focuses on external behavior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UCs are primarily textual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 diagrams show UCs, actors, and dependencies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provide an overview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Story like description easy to understand by both users and analysts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do not form the complete SRS, only the functionality part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35" name="Google Shape;335;p3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6" name="Google Shape;336;p3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sp>
        <p:nvSpPr>
          <p:cNvPr id="337" name="Google Shape;337;p3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 1: Buy stocks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 Purchaser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Goals of Stakeholders: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Purchaser: wants to buy stocks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Company: wants full transaction info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Precondition: User already has an account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43" name="Google Shape;343;p3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4" name="Google Shape;344;p3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…</a:t>
            </a:r>
            <a:endParaRPr/>
          </a:p>
        </p:txBody>
      </p:sp>
      <p:sp>
        <p:nvSpPr>
          <p:cNvPr id="345" name="Google Shape;345;p3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Success Scenario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 selects to buy stocks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gets name of web site from user for trading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Establishes connection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 browses and buys stocks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intercepts responses from the site and updates user portfolio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shows user new portfolio stading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51" name="Google Shape;351;p3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2" name="Google Shape;352;p3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Example…</a:t>
            </a:r>
            <a:endParaRPr/>
          </a:p>
        </p:txBody>
      </p:sp>
      <p:sp>
        <p:nvSpPr>
          <p:cNvPr id="353" name="Google Shape;353;p3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Alternatives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2a: System gives err msg, asks for new suggestion for site, gives option to cancel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3a: Web failure. 1-Sys reports failure to user, backs up to previous step. 2-User exits or tries again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4a: Computer crashes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4b: web site does not ack purchase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5a: web site does not return needed info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0" name="Google Shape;360;p3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2</a:t>
            </a:r>
            <a:endParaRPr/>
          </a:p>
        </p:txBody>
      </p:sp>
      <p:sp>
        <p:nvSpPr>
          <p:cNvPr id="361" name="Google Shape;361;p3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 2: Buy a product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 buyer/customer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Goal: purchase some product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Precondition: Customer is already logged in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67" name="Google Shape;367;p3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8" name="Google Shape;368;p3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2…</a:t>
            </a:r>
            <a:endParaRPr/>
          </a:p>
        </p:txBody>
      </p:sp>
      <p:sp>
        <p:nvSpPr>
          <p:cNvPr id="369" name="Google Shape;369;p3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Scenario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browses and selects items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goes to checkout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fills shipping options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presents full pricing info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fills credit card info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authorizes purchase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confirms sale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sends confirming email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75" name="Google Shape;375;p4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6" name="Google Shape;376;p4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2…</a:t>
            </a:r>
            <a:endParaRPr/>
          </a:p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Alternatives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6a: Credit card authorization fails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Allows customer to reenter info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3a: Regular customer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displays last 4 digits of credit card no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Asks customer to OK it or change it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Moves to step 6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83" name="Google Shape;383;p4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11430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– An auction site</a:t>
            </a:r>
            <a:endParaRPr/>
          </a:p>
        </p:txBody>
      </p:sp>
      <p:sp>
        <p:nvSpPr>
          <p:cNvPr id="385" name="Google Shape;385;p41"/>
          <p:cNvSpPr txBox="1"/>
          <p:nvPr>
            <p:ph idx="1" type="body"/>
          </p:nvPr>
        </p:nvSpPr>
        <p:spPr>
          <a:xfrm>
            <a:off x="533400" y="17526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Case1: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Put an item for auction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Seller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Precondition: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Seller has logged in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Success Scenario: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Seller posts an item (its category, description, picture, etc.) for auction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shows past prices of similar items to seller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specifies the starting bid price and a date when auction will close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accepts the item and posts it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Exception Scenarios: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--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a) There are no past items of this category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System tells the seller this situation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91" name="Google Shape;391;p4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2" name="Google Shape;392;p42"/>
          <p:cNvSpPr txBox="1"/>
          <p:nvPr>
            <p:ph type="title"/>
          </p:nvPr>
        </p:nvSpPr>
        <p:spPr>
          <a:xfrm>
            <a:off x="1143000" y="5334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– auction site..</a:t>
            </a:r>
            <a:endParaRPr/>
          </a:p>
        </p:txBody>
      </p:sp>
      <p:sp>
        <p:nvSpPr>
          <p:cNvPr id="393" name="Google Shape;393;p42"/>
          <p:cNvSpPr txBox="1"/>
          <p:nvPr>
            <p:ph idx="1" type="body"/>
          </p:nvPr>
        </p:nvSpPr>
        <p:spPr>
          <a:xfrm>
            <a:off x="609600" y="1752600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Case2: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Make a bid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Buyer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Precondition: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buyer has logged in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Success Scenario: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Buyer searches or </a:t>
            </a: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browses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selects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some item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shows the rating of the seller, the starting bid, the current bids, and the highest bid; asks buyer to make a bid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Buyer specifies bid price, max bid price, and increment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Systems accepts the bid; </a:t>
            </a: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Blocks funds in bidders account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updates the bid price of other bidders where needed, and updates the records for the item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399" name="Google Shape;399;p4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1" name="Google Shape;401;p4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Exception Scenarios: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-- 3 a) The bid price is lower than the current highest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* System informs the bidder and asks to rebid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-- 4 a) The bidder does not have enough funds in his account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* System cancels the bid, asks the user to get more funds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07" name="Google Shape;407;p4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8" name="Google Shape;408;p44"/>
          <p:cNvSpPr txBox="1"/>
          <p:nvPr>
            <p:ph type="title"/>
          </p:nvPr>
        </p:nvSpPr>
        <p:spPr>
          <a:xfrm>
            <a:off x="11430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–auction site..</a:t>
            </a:r>
            <a:endParaRPr/>
          </a:p>
        </p:txBody>
      </p:sp>
      <p:sp>
        <p:nvSpPr>
          <p:cNvPr id="409" name="Google Shape;409;p44"/>
          <p:cNvSpPr txBox="1"/>
          <p:nvPr>
            <p:ph idx="1" type="body"/>
          </p:nvPr>
        </p:nvSpPr>
        <p:spPr>
          <a:xfrm>
            <a:off x="304800" y="17526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Case3: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auction of an item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Auction System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Precondition: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last date for bidding has been reached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Success Scenario: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Select highest bidder; send email to selected bidder and seller informing final bid price; send email to other bidders also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Debit bidder’s account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credit seller’s account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Transfer from seller’s account commission amount to organization’s account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Unblock other bidders funds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Remove item from the site; update records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Exception Scenarios: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None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15" name="Google Shape;415;p4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6" name="Google Shape;416;p45"/>
          <p:cNvSpPr txBox="1"/>
          <p:nvPr>
            <p:ph type="title"/>
          </p:nvPr>
        </p:nvSpPr>
        <p:spPr>
          <a:xfrm>
            <a:off x="11430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– summary-level Use Case</a:t>
            </a:r>
            <a:endParaRPr/>
          </a:p>
        </p:txBody>
      </p:sp>
      <p:sp>
        <p:nvSpPr>
          <p:cNvPr id="417" name="Google Shape;417;p45"/>
          <p:cNvSpPr txBox="1"/>
          <p:nvPr>
            <p:ph idx="1" type="body"/>
          </p:nvPr>
        </p:nvSpPr>
        <p:spPr>
          <a:xfrm>
            <a:off x="1143000" y="1752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 0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Auction an item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Primary Actor: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Auction system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Scope: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Auction conducting organization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Precondition: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None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Success Scenario: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Seller performs </a:t>
            </a:r>
            <a:r>
              <a:rPr b="0" i="0" lang="en-US" sz="2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put an item for auction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Various bidders </a:t>
            </a:r>
            <a:r>
              <a:rPr b="0" i="0" lang="en-US" sz="2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 a bid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 final date perform </a:t>
            </a:r>
            <a:r>
              <a:rPr b="0" i="0" lang="en-US" sz="2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the auction of the item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Get feed back from seller; get feedback from buyer; update records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23" name="Google Shape;423;p4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4" name="Google Shape;424;p4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with Use Cases</a:t>
            </a:r>
            <a:endParaRPr/>
          </a:p>
        </p:txBody>
      </p:sp>
      <p:sp>
        <p:nvSpPr>
          <p:cNvPr id="425" name="Google Shape;425;p4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UCs specify functional requirements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Other req identified separately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complete SRS will contain the use cases plus the other requirements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 – for system requirements it is important to identify UCs for which the system itself may be the actor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31" name="Google Shape;431;p4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Developing Use Cases</a:t>
            </a:r>
            <a:endParaRPr/>
          </a:p>
        </p:txBody>
      </p:sp>
      <p:sp>
        <p:nvSpPr>
          <p:cNvPr id="433" name="Google Shape;433;p4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UCs form a good medium for brainstorming and discussions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Hence can be used in elicitation and problem analysis also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UCs can be developed in a stepwise refinement manner	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Many levels possible, but four naturally emerge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39" name="Google Shape;439;p4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0" name="Google Shape;440;p4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Developing…</a:t>
            </a:r>
            <a:endParaRPr/>
          </a:p>
        </p:txBody>
      </p:sp>
      <p:sp>
        <p:nvSpPr>
          <p:cNvPr id="441" name="Google Shape;441;p4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1: Identify actors and goals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Prepare an actor-goal list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Provide a brief overview of the UC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defines the scope of the system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Completeness can also be evaluated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2: Specify main Success Scenarios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each UC, expand main scenario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will provide the normal behavior of the system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be reviewed to ensure that interests of all stakeholders and actors is met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47" name="Google Shape;447;p4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8" name="Google Shape;448;p4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Developing…</a:t>
            </a:r>
            <a:endParaRPr/>
          </a:p>
        </p:txBody>
      </p:sp>
      <p:sp>
        <p:nvSpPr>
          <p:cNvPr id="449" name="Google Shape;449;p4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3: Identify failure conditions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List possible failure conditions for UCs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each step, identify how it may fail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step uncovers special situations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4: Specify failure handling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Perhaps the hardest part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Specify system behavior for the failure conditions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 business rules and actors may emerge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Other Approaches to Analysis</a:t>
            </a:r>
            <a:endParaRPr/>
          </a:p>
        </p:txBody>
      </p:sp>
      <p:sp>
        <p:nvSpPr>
          <p:cNvPr id="455" name="Google Shape;455;p5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61" name="Google Shape;461;p5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2" name="Google Shape;462;p51"/>
          <p:cNvSpPr txBox="1"/>
          <p:nvPr>
            <p:ph type="title"/>
          </p:nvPr>
        </p:nvSpPr>
        <p:spPr>
          <a:xfrm>
            <a:off x="762000" y="6858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Flow Modeling</a:t>
            </a:r>
            <a:endParaRPr/>
          </a:p>
        </p:txBody>
      </p:sp>
      <p:sp>
        <p:nvSpPr>
          <p:cNvPr id="463" name="Google Shape;463;p51"/>
          <p:cNvSpPr txBox="1"/>
          <p:nvPr>
            <p:ph idx="1" type="body"/>
          </p:nvPr>
        </p:nvSpPr>
        <p:spPr>
          <a:xfrm>
            <a:off x="685800" y="17526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Widely used; focuses on functions performed in the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Views a system as a network of data transforms through which the data flows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Uses data flow diagrams (DFDs) and functional decomposition in modeling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SSAD methodology uses DFD to organize information, and guide analysis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69" name="Google Shape;469;p5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0" name="Google Shape;470;p52"/>
          <p:cNvSpPr txBox="1"/>
          <p:nvPr>
            <p:ph type="title"/>
          </p:nvPr>
        </p:nvSpPr>
        <p:spPr>
          <a:xfrm>
            <a:off x="609600" y="6858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flow diagrams</a:t>
            </a:r>
            <a:endParaRPr/>
          </a:p>
        </p:txBody>
      </p:sp>
      <p:sp>
        <p:nvSpPr>
          <p:cNvPr id="471" name="Google Shape;471;p52"/>
          <p:cNvSpPr txBox="1"/>
          <p:nvPr>
            <p:ph idx="1" type="body"/>
          </p:nvPr>
        </p:nvSpPr>
        <p:spPr>
          <a:xfrm>
            <a:off x="609600" y="19050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DFD shows flow of data through the system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Views system as transforming inputs to outputs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Transformation done through transforms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DFD captures how transformation occurs from input to output as data moves through the transforms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limited to software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8" name="Google Shape;478;p5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flow diagrams…</a:t>
            </a:r>
            <a:endParaRPr/>
          </a:p>
        </p:txBody>
      </p:sp>
      <p:sp>
        <p:nvSpPr>
          <p:cNvPr id="479" name="Google Shape;479;p5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Transforms represented by named  circles/bubbles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Bubbles connected by arrows on which named data travels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rectangle represents a source or sink and is originator/consumer of data (often outside the system)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85" name="Google Shape;485;p5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6" name="Google Shape;486;p5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DFD Example</a:t>
            </a:r>
            <a:endParaRPr/>
          </a:p>
        </p:txBody>
      </p:sp>
      <p:pic>
        <p:nvPicPr>
          <p:cNvPr id="487" name="Google Shape;487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81200"/>
            <a:ext cx="75438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493" name="Google Shape;493;p5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4" name="Google Shape;494;p5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DFD Conventions</a:t>
            </a:r>
            <a:endParaRPr/>
          </a:p>
        </p:txBody>
      </p:sp>
      <p:sp>
        <p:nvSpPr>
          <p:cNvPr id="495" name="Google Shape;495;p5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External files shown as labeled straight lines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Need for multiple data flows by a process represented by * (means and)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 relationship represented by +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processes and arrows should be named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Processes should represent transforms, arrows should represent some data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01" name="Google Shape;501;p5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02" name="Google Shape;502;p56"/>
          <p:cNvSpPr txBox="1"/>
          <p:nvPr>
            <p:ph type="title"/>
          </p:nvPr>
        </p:nvSpPr>
        <p:spPr>
          <a:xfrm>
            <a:off x="685800" y="457200"/>
            <a:ext cx="7924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flow diagrams…</a:t>
            </a:r>
            <a:endParaRPr/>
          </a:p>
        </p:txBody>
      </p:sp>
      <p:sp>
        <p:nvSpPr>
          <p:cNvPr id="503" name="Google Shape;503;p56"/>
          <p:cNvSpPr txBox="1"/>
          <p:nvPr>
            <p:ph idx="1" type="body"/>
          </p:nvPr>
        </p:nvSpPr>
        <p:spPr>
          <a:xfrm>
            <a:off x="609600" y="1828800"/>
            <a:ext cx="7848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Focus on what transforms happen , how they are done is not important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Usually major inputs/outputs shown, minor are ignored in this modeling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loops , conditional thinking , …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DFD is NOT a control chart, no algorithmic design/thinking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Sink/Source , external files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09" name="Google Shape;509;p5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0" name="Google Shape;510;p5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Drawing a DFD for a system</a:t>
            </a:r>
            <a:endParaRPr/>
          </a:p>
        </p:txBody>
      </p:sp>
      <p:sp>
        <p:nvSpPr>
          <p:cNvPr id="511" name="Google Shape;511;p5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Identify inputs, outputs, sources, sinks for the system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 your way consistently from inputs to outputs, and identify a few high-level transforms to capture full transformation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get stuck, reverse direction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high-level transforms defined, then refine each transform with more detailed transformations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17" name="Google Shape;517;p5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8" name="Google Shape;518;p5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Drawing a DFD for a system..</a:t>
            </a:r>
            <a:endParaRPr/>
          </a:p>
        </p:txBody>
      </p:sp>
      <p:sp>
        <p:nvSpPr>
          <p:cNvPr id="519" name="Google Shape;519;p5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Never show control logic; if thinking in terms of loops/decisions, stop &amp; restart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Label each arrows and bubbles; carefully identify inputs and outputs of each transform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 use of +  &amp;  *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Try drawing alternate DFDs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25" name="Google Shape;525;p6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6" name="Google Shape;526;p6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Leveled DFDs</a:t>
            </a:r>
            <a:endParaRPr/>
          </a:p>
        </p:txBody>
      </p:sp>
      <p:sp>
        <p:nvSpPr>
          <p:cNvPr id="527" name="Google Shape;527;p6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DFD of  a system may be very large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organize it hierarchically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 with a top level DFD with a few bubbles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draw DFD for each bubble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Preserve I/O when “ exploding” a bubble so consistency preserved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Makes drawing the leveled DFD a top-down refinement process, and allows modeling of large and complex systems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33" name="Google Shape;533;p6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4" name="Google Shape;534;p61"/>
          <p:cNvSpPr txBox="1"/>
          <p:nvPr>
            <p:ph type="title"/>
          </p:nvPr>
        </p:nvSpPr>
        <p:spPr>
          <a:xfrm>
            <a:off x="609600" y="6096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Dictionary</a:t>
            </a:r>
            <a:endParaRPr/>
          </a:p>
        </p:txBody>
      </p:sp>
      <p:sp>
        <p:nvSpPr>
          <p:cNvPr id="535" name="Google Shape;535;p61"/>
          <p:cNvSpPr txBox="1"/>
          <p:nvPr>
            <p:ph idx="1" type="body"/>
          </p:nvPr>
        </p:nvSpPr>
        <p:spPr>
          <a:xfrm>
            <a:off x="609600" y="1752600"/>
            <a:ext cx="7924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DFD arrows are labeled with data items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dictionary defines data flows in a DFD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Shows structure of data; structure becomes more visible when exploding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use regular expressions to express the structure of data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41" name="Google Shape;541;p6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2" name="Google Shape;542;p6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Dictionary Example</a:t>
            </a:r>
            <a:endParaRPr/>
          </a:p>
        </p:txBody>
      </p:sp>
      <p:sp>
        <p:nvSpPr>
          <p:cNvPr id="543" name="Google Shape;543;p6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the timesheet DFD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Weekly_timesheet – employee_name + id + [regular_hrs + overtime_hrs]*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Pay_rate = [hourly | daily | weekly] + dollar_amt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Employee_name = last + first + middle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 = digit + digit + digit + digit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49" name="Google Shape;549;p6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0" name="Google Shape;550;p63"/>
          <p:cNvSpPr txBox="1"/>
          <p:nvPr>
            <p:ph type="title"/>
          </p:nvPr>
        </p:nvSpPr>
        <p:spPr>
          <a:xfrm>
            <a:off x="685800" y="6096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DFD drawing – common errors</a:t>
            </a:r>
            <a:endParaRPr/>
          </a:p>
        </p:txBody>
      </p:sp>
      <p:sp>
        <p:nvSpPr>
          <p:cNvPr id="551" name="Google Shape;551;p63"/>
          <p:cNvSpPr txBox="1"/>
          <p:nvPr>
            <p:ph idx="1" type="body"/>
          </p:nvPr>
        </p:nvSpPr>
        <p:spPr>
          <a:xfrm>
            <a:off x="609600" y="1828800"/>
            <a:ext cx="7924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Unlabeled data flows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Missing data flows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Extraneous data flows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Consistency not maintained during refinement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Missing processes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Too detailed or too abstract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Contains some control information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57" name="Google Shape;557;p6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8" name="Google Shape;558;p6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Prototyping</a:t>
            </a:r>
            <a:endParaRPr/>
          </a:p>
        </p:txBody>
      </p:sp>
      <p:sp>
        <p:nvSpPr>
          <p:cNvPr id="559" name="Google Shape;559;p6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Prototyping is another approach for problem analysis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Discussed it earlier with process – leads to prototyping process model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65" name="Google Shape;565;p6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6" name="Google Shape;566;p65"/>
          <p:cNvSpPr txBox="1"/>
          <p:nvPr>
            <p:ph type="title"/>
          </p:nvPr>
        </p:nvSpPr>
        <p:spPr>
          <a:xfrm>
            <a:off x="762000" y="6858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Validation</a:t>
            </a:r>
            <a:endParaRPr/>
          </a:p>
        </p:txBody>
      </p:sp>
      <p:sp>
        <p:nvSpPr>
          <p:cNvPr id="567" name="Google Shape;567;p65"/>
          <p:cNvSpPr txBox="1"/>
          <p:nvPr>
            <p:ph idx="1" type="body"/>
          </p:nvPr>
        </p:nvSpPr>
        <p:spPr>
          <a:xfrm>
            <a:off x="685800" y="19812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Lot of room for misunderstanding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Errors possible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Expensive to fix req defects later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try to remove most errors in SRS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Most common errors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Omission 		- 30%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Inconsistency		- 10-30%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Incorrect fact 		- 10-30%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Ambiguity		-  5 -20%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73" name="Google Shape;573;p6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4" name="Google Shape;574;p66"/>
          <p:cNvSpPr txBox="1"/>
          <p:nvPr>
            <p:ph type="title"/>
          </p:nvPr>
        </p:nvSpPr>
        <p:spPr>
          <a:xfrm>
            <a:off x="685800" y="838200"/>
            <a:ext cx="7696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Requirements Review</a:t>
            </a:r>
            <a:endParaRPr/>
          </a:p>
        </p:txBody>
      </p:sp>
      <p:sp>
        <p:nvSpPr>
          <p:cNvPr id="575" name="Google Shape;575;p66"/>
          <p:cNvSpPr txBox="1"/>
          <p:nvPr>
            <p:ph idx="1" type="body"/>
          </p:nvPr>
        </p:nvSpPr>
        <p:spPr>
          <a:xfrm>
            <a:off x="762000" y="19050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SRS reviewed by a group of people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Group: author, client, user, dev team rep.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include client and a user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 – standard inspection process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Effectiveness - can catch 40-80% of req. errors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81" name="Google Shape;581;p6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2" name="Google Shape;582;p67"/>
          <p:cNvSpPr txBox="1"/>
          <p:nvPr>
            <p:ph type="title"/>
          </p:nvPr>
        </p:nvSpPr>
        <p:spPr>
          <a:xfrm>
            <a:off x="685800" y="533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583" name="Google Shape;583;p67"/>
          <p:cNvSpPr txBox="1"/>
          <p:nvPr>
            <p:ph idx="1" type="body"/>
          </p:nvPr>
        </p:nvSpPr>
        <p:spPr>
          <a:xfrm>
            <a:off x="609600" y="1828800"/>
            <a:ext cx="7848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Having a good quality SRS is essential for Q&amp;P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req. phase has 3 major sub phases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 , specification and 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problem understanding and modeling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Methods used: SSAD,  OOA , Prototyping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Key properties of an SRS: correctness, completeness, consistency,unambiguousness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589" name="Google Shape;589;p6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0" name="Google Shape;590;p6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Summary..</a:t>
            </a:r>
            <a:endParaRPr/>
          </a:p>
        </p:txBody>
      </p:sp>
      <p:sp>
        <p:nvSpPr>
          <p:cNvPr id="591" name="Google Shape;591;p6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contain functionality , performance , interfaces and design constraints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Mostly natural languages used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Cases is a method to specify the functionality; also useful for analysis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 - through reviews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E4A8"/>
      </a:accent4>
      <a:accent5>
        <a:srgbClr val="FFCF01"/>
      </a:accent5>
      <a:accent6>
        <a:srgbClr val="FFFFFF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1999-08-17T04:19:19Z</dcterms:created>
  <dc:creator>Raju</dc:creator>
</cp:coreProperties>
</file>